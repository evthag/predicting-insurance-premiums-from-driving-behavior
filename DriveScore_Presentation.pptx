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979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2E86C1">
              <a:alpha val="12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371600"/>
            <a:ext cx="3657600" cy="3657600"/>
          </a:xfrm>
          <a:prstGeom prst="ellipse">
            <a:avLst/>
          </a:prstGeom>
          <a:solidFill>
            <a:srgbClr val="F39C12">
              <a:alpha val="8000"/>
            </a:srgbClr>
          </a:solidFill>
          <a:ln w="12700">
            <a:solidFill>
              <a:srgbClr val="F39C1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411480"/>
            <a:ext cx="1828800" cy="29260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11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INSURTECH · 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DriveScore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029200" cy="36576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 Prediction from Telematics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 learning pipeline · Synthetic telematics dataset · 5,000 policies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1920240" cy="12801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Policies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3200400"/>
            <a:ext cx="1920240" cy="12801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97480" y="3858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Models Compared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1920240" cy="12801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00600" y="3858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Best R²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200400"/>
            <a:ext cx="1920240" cy="128016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03720" y="3858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</a:rPr>
              <a:t>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Taiwo Oloko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&amp; 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3383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Traditional Pricing Fails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✕  </a:t>
            </a:r>
            <a:r>
              <a:rPr lang="en-US" sz="1100" dirty="0">
                <a:solidFill>
                  <a:srgbClr val="5D6D7E"/>
                </a:solidFill>
              </a:rPr>
              <a:t>Static factors ignore how people actually drive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✕  </a:t>
            </a:r>
            <a:r>
              <a:rPr lang="en-US" sz="1100" dirty="0">
                <a:solidFill>
                  <a:srgbClr val="5D6D7E"/>
                </a:solidFill>
              </a:rPr>
              <a:t>Young safe drivers pay as much as reckless peers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✕  </a:t>
            </a:r>
            <a:r>
              <a:rPr lang="en-US" sz="1100" dirty="0">
                <a:solidFill>
                  <a:srgbClr val="5D6D7E"/>
                </a:solidFill>
              </a:rPr>
              <a:t>Adverse selection: riskier drivers drawn to flat-rate policies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✕  </a:t>
            </a:r>
            <a:r>
              <a:rPr lang="en-US" sz="1100" dirty="0">
                <a:solidFill>
                  <a:srgbClr val="5D6D7E"/>
                </a:solidFill>
              </a:rPr>
              <a:t>Insurers lack real predictive power — ~69% R² with legacy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338328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91440" cy="3383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Telematics-Based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✔  </a:t>
            </a:r>
            <a:r>
              <a:rPr lang="en-US" sz="1100" dirty="0">
                <a:solidFill>
                  <a:srgbClr val="AED6F1"/>
                </a:solidFill>
              </a:rPr>
              <a:t>Real driving data: speed, braking, cornering, phone 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✔  </a:t>
            </a:r>
            <a:r>
              <a:rPr lang="en-US" sz="1100" dirty="0">
                <a:solidFill>
                  <a:srgbClr val="AED6F1"/>
                </a:solidFill>
              </a:rPr>
              <a:t>Per-driver risk scoring — fair, transparent, explainable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083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✔  </a:t>
            </a:r>
            <a:r>
              <a:rPr lang="en-US" sz="1100" dirty="0">
                <a:solidFill>
                  <a:srgbClr val="AED6F1"/>
                </a:solidFill>
              </a:rPr>
              <a:t>Gradient Boosting achieves R² = 0.855 vs 0.693 linear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21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✔  </a:t>
            </a:r>
            <a:r>
              <a:rPr lang="en-US" sz="1100" dirty="0">
                <a:solidFill>
                  <a:srgbClr val="AED6F1"/>
                </a:solidFill>
              </a:rPr>
              <a:t>Rewards safe drivers with lower premiums (up to 25% off)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&amp;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Driver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Age &amp; years licensed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Vehicle type &amp; 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26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Annual mileage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520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Prior claims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Telematics Signals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737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Avg speed (mph)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Hard braking / trip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926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Sharp cornering / trip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520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Phone use / trip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14300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Derived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1737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Driving risk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Mileage per trip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2926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Experience ratio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3520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 </a:t>
            </a:r>
            <a:r>
              <a:rPr lang="en-US" sz="1100" dirty="0">
                <a:solidFill>
                  <a:srgbClr val="5D6D7E"/>
                </a:solidFill>
              </a:rPr>
              <a:t>% time speeding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</a:rPr>
              <a:t>  Target Variable:  Annual Insurance Premium  ($400 – $3,290)  |  n = 5,000 policies  |  Mean = $1,528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pic>
        <p:nvPicPr>
          <p:cNvPr id="5" name="Image 0" descr="/home/claude/eda_premium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03520" cy="196596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6" name="Image 1" descr="/home/claude/eda_vehicle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5303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760720" y="1097280"/>
            <a:ext cx="31089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760720" y="1097280"/>
            <a:ext cx="73152" cy="3886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5"/>
          <p:cNvSpPr/>
          <p:nvPr/>
        </p:nvSpPr>
        <p:spPr>
          <a:xfrm>
            <a:off x="5897880" y="1143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Key EDA Insights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9788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Right-skewed distribution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897880" y="19019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Mean $1,528; most policies cluster between $900–$2,000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897880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Sports cars pay most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897880" y="27066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$1,750 median vs $1,350 for Hatchback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9788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Speed &amp; braking corr &gt; 0.6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897880" y="35112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Strong positive correlation with premium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97880" y="4041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Age effect is non-linear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97880" y="4315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Young (&lt;25) and older (&gt;65) both pay more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Training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3108960"/>
          </a:xfrm>
          <a:prstGeom prst="rect">
            <a:avLst/>
          </a:prstGeom>
          <a:solidFill>
            <a:srgbClr val="AED6F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</a:rPr>
              <a:t>Linear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RMSE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$191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R² 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273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F72"/>
                </a:solidFill>
              </a:rPr>
              <a:t>0.693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23160" y="1143000"/>
            <a:ext cx="2011680" cy="3108960"/>
          </a:xfrm>
          <a:prstGeom prst="rect">
            <a:avLst/>
          </a:prstGeom>
          <a:solidFill>
            <a:srgbClr val="5D6D7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Regularized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Ridge 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1031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RMSE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6032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$191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560320" y="30175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R² Score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3273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0.692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17720" y="1143000"/>
            <a:ext cx="2011680" cy="3108960"/>
          </a:xfrm>
          <a:prstGeom prst="rect">
            <a:avLst/>
          </a:prstGeom>
          <a:solidFill>
            <a:srgbClr val="2E86C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Ensemble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RMSE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$173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R² Score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273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0.748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812280" y="1143000"/>
            <a:ext cx="2011680" cy="310896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1188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39C12"/>
                </a:solidFill>
              </a:rPr>
              <a:t>★ Best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9440" y="21031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RMSE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2359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$131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949440" y="3017520"/>
            <a:ext cx="173736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035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D6F1"/>
                </a:solidFill>
              </a:rPr>
              <a:t>R² Score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3273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</a:rPr>
              <a:t>0.855</a:t>
            </a:r>
            <a:endParaRPr lang="en-US" sz="2200" dirty="0"/>
          </a:p>
        </p:txBody>
      </p:sp>
      <p:pic>
        <p:nvPicPr>
          <p:cNvPr id="41" name="Image 0" descr="/home/claude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315968"/>
            <a:ext cx="8686800" cy="6858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Importance &amp; Explainability</a:t>
            </a:r>
            <a:endParaRPr lang="en-US" sz="2800" dirty="0"/>
          </a:p>
        </p:txBody>
      </p:sp>
      <p:pic>
        <p:nvPicPr>
          <p:cNvPr id="5" name="Image 0" descr="/home/claude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029200" cy="38404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0" y="1097280"/>
            <a:ext cx="33832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097280"/>
            <a:ext cx="73152" cy="3840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11430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Top Signal Drivers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1600200"/>
            <a:ext cx="292608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Driving Risk Score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Composite of 5 telematics signals; single most predictive feature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258568"/>
            <a:ext cx="292608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89320" y="2258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Hard Braking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89320" y="2487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Each additional event/trip adds ~$55 to expected premium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23560" y="2916936"/>
            <a:ext cx="292608" cy="2926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Avg Speed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89320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Strong linear relationship; high-speed drivers pay 30% more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23560" y="3575304"/>
            <a:ext cx="292608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19"/>
          <p:cNvSpPr/>
          <p:nvPr/>
        </p:nvSpPr>
        <p:spPr>
          <a:xfrm>
            <a:off x="562356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8932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Phone Use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89320" y="3803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Most actionable: coaching could reduce this and premiums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23560" y="4233672"/>
            <a:ext cx="292608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6" name="Text 23"/>
          <p:cNvSpPr/>
          <p:nvPr/>
        </p:nvSpPr>
        <p:spPr>
          <a:xfrm>
            <a:off x="5623560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89320" y="4233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</a:rPr>
              <a:t>Prior Claims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89320" y="4462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Legacy signal still powerful — validates hybrid approach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Validation</a:t>
            </a:r>
            <a:endParaRPr lang="en-US" sz="2800" dirty="0"/>
          </a:p>
        </p:txBody>
      </p:sp>
      <p:pic>
        <p:nvPicPr>
          <p:cNvPr id="5" name="Image 0" descr="/home/claude/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03520" cy="20116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6" name="Image 1" descr="/home/claude/residu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5303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760720" y="1097280"/>
            <a:ext cx="3108960" cy="38862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76072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76072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D6F1"/>
                </a:solidFill>
              </a:rPr>
              <a:t>Test Set Performance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43600" y="1828800"/>
            <a:ext cx="27432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1847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85.5%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94360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</a:rPr>
              <a:t>Variance Explained (R²)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$131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94360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</a:rPr>
              <a:t>Root Mean Squared Error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43600" y="3291840"/>
            <a:ext cx="27432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0" y="3310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$104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94360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</a:rPr>
              <a:t>Mean Absolute Error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43600" y="4023360"/>
            <a:ext cx="274320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4360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~73%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94360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</a:rPr>
              <a:t>Predictions within ±$100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Insights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73152" cy="1691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" y="1307592"/>
            <a:ext cx="594360" cy="5943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1307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UBI Pricing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16733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Safe-driver discount of 15–25% is financially viable; accurate pricing reduces adverse selection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73152" cy="16916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307592"/>
            <a:ext cx="594360" cy="59436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05272" y="1307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Phone Use Intervention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5272" y="167335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Highest-impact lever: in-app coaching or blocking while driving could cut risk score by 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63240"/>
            <a:ext cx="73152" cy="1691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" y="3227832"/>
            <a:ext cx="594360" cy="5943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3227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4712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Fair &amp; Explainable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" y="35935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Reduces reliance on proxy variables (zip code, demographics). Meets regulatory explainability standards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63240"/>
            <a:ext cx="73152" cy="1691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3752" y="3227832"/>
            <a:ext cx="594360" cy="5943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227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05272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Production Roadmap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05272" y="359359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Next: SHAP explainer, REST API deployment, real-time telematics stream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2E86C1">
              <a:alpha val="9000"/>
            </a:srgbClr>
          </a:solidFill>
          <a:ln w="12700">
            <a:solidFill>
              <a:srgbClr val="2E86C1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›  </a:t>
            </a:r>
            <a:r>
              <a:rPr lang="en-US" sz="1200" dirty="0">
                <a:solidFill>
                  <a:srgbClr val="AED6F1"/>
                </a:solidFill>
              </a:rPr>
              <a:t>Generated a 5,000-record synthetic telematics dataset with 14 raw + 4 engineered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›  </a:t>
            </a:r>
            <a:r>
              <a:rPr lang="en-US" sz="1200" dirty="0">
                <a:solidFill>
                  <a:srgbClr val="AED6F1"/>
                </a:solidFill>
              </a:rPr>
              <a:t>Built a complete ML pipeline: EDA → feature engineering → 4 models → evaluation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›  </a:t>
            </a:r>
            <a:r>
              <a:rPr lang="en-US" sz="1200" dirty="0">
                <a:solidFill>
                  <a:srgbClr val="AED6F1"/>
                </a:solidFill>
              </a:rPr>
              <a:t>Gradient Boosting achieved R² = 0.855, RMSE = $131 — 24% improvement over linear baselines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›  </a:t>
            </a:r>
            <a:r>
              <a:rPr lang="en-US" sz="1200" dirty="0">
                <a:solidFill>
                  <a:srgbClr val="AED6F1"/>
                </a:solidFill>
              </a:rPr>
              <a:t>Identified top risk signals: driving composite score, hard braking, speed, phone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›  </a:t>
            </a:r>
            <a:r>
              <a:rPr lang="en-US" sz="1200" dirty="0">
                <a:solidFill>
                  <a:srgbClr val="AED6F1"/>
                </a:solidFill>
              </a:rPr>
              <a:t>Translated model findings into actionable UBI pricing and customer coaching strategies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8229600" cy="36576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Taiwo Oloko ·  Data Science Portfolio  ·  InsurTech / ML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603</Words>
  <Application>Microsoft Office PowerPoint</Application>
  <PresentationFormat>On-screen Show (16:9)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DriveScore: Insurance Premium Prediction</dc:title>
  <dc:subject>PptxGenJS Presentation</dc:subject>
  <dc:creator>Evthag</dc:creator>
  <cp:lastModifiedBy>Daniel Ella</cp:lastModifiedBy>
  <cp:revision>2</cp:revision>
  <dcterms:created xsi:type="dcterms:W3CDTF">2026-03-13T03:57:28Z</dcterms:created>
  <dcterms:modified xsi:type="dcterms:W3CDTF">2026-03-13T04:28:36Z</dcterms:modified>
</cp:coreProperties>
</file>